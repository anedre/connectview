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determined-fermi/mnt/outputs/assets/hair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"/>
          </a:xfrm>
          <a:prstGeom prst="rect">
            <a:avLst/>
          </a:prstGeom>
        </p:spPr>
      </p:pic>
      <p:pic>
        <p:nvPicPr>
          <p:cNvPr id="3" name="Image 1" descr="/sessions/sweet-determined-fermi/mnt/outputs/assets/logo-aria-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748" y="1828800"/>
            <a:ext cx="3886200" cy="1432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60704" y="3703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contact center con IA que corre sobre </a:t>
            </a:r>
            <a:pPr algn="ctr" indent="0" marL="0">
              <a:buNone/>
            </a:pPr>
            <a:r>
              <a:rPr lang="en-US" sz="2300" b="1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 propia nube</a:t>
            </a:r>
            <a:endParaRPr lang="en-US" sz="2300" dirty="0"/>
          </a:p>
        </p:txBody>
      </p:sp>
      <p:sp>
        <p:nvSpPr>
          <p:cNvPr id="5" name="Text 1"/>
          <p:cNvSpPr/>
          <p:nvPr/>
        </p:nvSpPr>
        <p:spPr>
          <a:xfrm>
            <a:off x="1060704" y="4526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PROPUESTA COMERCIAL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060704" y="6144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Junio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determined-fermi/mnt/Connectview/docs/comercial/img/antes-desp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determined-fermi/mnt/Connectview/docs/comercial/img/arquitectura-a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determined-fermi/mnt/outputs/assets/hair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20" kern="0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DÍA A DÍA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22960" y="749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se atiende a un cliente</a:t>
            </a:r>
            <a:endParaRPr lang="en-US" sz="3000" dirty="0"/>
          </a:p>
        </p:txBody>
      </p:sp>
      <p:pic>
        <p:nvPicPr>
          <p:cNvPr id="5" name="Image 1" descr="/sessions/sweet-determined-fermi/mnt/Connectview/docs/comercial/img/flujo-aten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8" y="1920240"/>
            <a:ext cx="10789920" cy="317350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2960" y="5504688"/>
            <a:ext cx="146304" cy="146304"/>
          </a:xfrm>
          <a:prstGeom prst="ellipse">
            <a:avLst/>
          </a:prstGeom>
          <a:solidFill>
            <a:srgbClr val="D9892B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115568" y="53766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mismo escritorio para </a:t>
            </a:r>
            <a:pPr algn="l" indent="0" marL="0">
              <a:buNone/>
            </a:pPr>
            <a:r>
              <a:rPr lang="en-US" sz="155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voz, WhatsApp, chat y email</a:t>
            </a:r>
            <a:pPr algn="l" indent="0" marL="0">
              <a:buNone/>
            </a:pPr>
            <a:r>
              <a:rPr lang="en-US" sz="15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con IA ayudando en cada paso.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229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ARIA · Propuesta comercial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362895" y="6455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determined-fermi/mnt/outputs/assets/hair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20" kern="0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ATENCIÓN AUTOMÁTICA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22960" y="749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bot de WhatsApp que </a:t>
            </a:r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atiende solo</a:t>
            </a:r>
            <a:endParaRPr lang="en-US" sz="3000" dirty="0"/>
          </a:p>
        </p:txBody>
      </p:sp>
      <p:pic>
        <p:nvPicPr>
          <p:cNvPr id="5" name="Image 1" descr="/sessions/sweet-determined-fermi/mnt/Connectview/docs/comercial/img/flujo-bot-whats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8" y="1920240"/>
            <a:ext cx="10789920" cy="317350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2960" y="5504688"/>
            <a:ext cx="146304" cy="146304"/>
          </a:xfrm>
          <a:prstGeom prst="ellipse">
            <a:avLst/>
          </a:prstGeom>
          <a:solidFill>
            <a:srgbClr val="D9892B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115568" y="53766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 al instante, </a:t>
            </a:r>
            <a:pPr algn="l" indent="0" marL="0">
              <a:buNone/>
            </a:pPr>
            <a:r>
              <a:rPr lang="en-US" sz="155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</a:t>
            </a:r>
            <a:pPr algn="l" indent="0" marL="0">
              <a:buNone/>
            </a:pPr>
            <a:r>
              <a:rPr lang="en-US" sz="15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y pasa a una persona sólo cuando hace falta.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229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ARIA · Propuesta comercial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362895" y="6455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determined-fermi/mnt/outputs/assets/hair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20" kern="0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VENTAS Y COBRANZAS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22960" y="749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Campañas de salida en </a:t>
            </a:r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piloto automático</a:t>
            </a:r>
            <a:endParaRPr lang="en-US" sz="3000" dirty="0"/>
          </a:p>
        </p:txBody>
      </p:sp>
      <p:pic>
        <p:nvPicPr>
          <p:cNvPr id="5" name="Image 1" descr="/sessions/sweet-determined-fermi/mnt/Connectview/docs/comercial/img/flujo-campa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8" y="1920240"/>
            <a:ext cx="10789920" cy="317350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2960" y="5504688"/>
            <a:ext cx="146304" cy="146304"/>
          </a:xfrm>
          <a:prstGeom prst="ellipse">
            <a:avLst/>
          </a:prstGeom>
          <a:solidFill>
            <a:srgbClr val="D9892B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115568" y="53766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Cargás la lista y ARIA contacta </a:t>
            </a:r>
            <a:pPr algn="l" indent="0" marL="0">
              <a:buNone/>
            </a:pPr>
            <a:r>
              <a:rPr lang="en-US" sz="155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voz o WhatsApp, sola</a:t>
            </a:r>
            <a:pPr algn="l" indent="0" marL="0">
              <a:buNone/>
            </a:pPr>
            <a:r>
              <a:rPr lang="en-US" sz="15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vos sólo mirás los resultados.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229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ARIA · Propuesta comercial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362895" y="6455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determined-fermi/mnt/outputs/assets/hair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20" kern="0" dirty="0">
                <a:solidFill>
                  <a:srgbClr val="D98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INTELIGENCIA ARTIFICIAL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22960" y="749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IA hace el </a:t>
            </a:r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D98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trabajo pesado</a:t>
            </a:r>
            <a:endParaRPr lang="en-US" sz="3000" dirty="0"/>
          </a:p>
        </p:txBody>
      </p:sp>
      <p:pic>
        <p:nvPicPr>
          <p:cNvPr id="5" name="Image 1" descr="/sessions/sweet-determined-fermi/mnt/Connectview/docs/comercial/img/flujo-resumen-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8" y="2148840"/>
            <a:ext cx="10789920" cy="290051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2960" y="5504688"/>
            <a:ext cx="146304" cy="146304"/>
          </a:xfrm>
          <a:prstGeom prst="ellipse">
            <a:avLst/>
          </a:prstGeom>
          <a:solidFill>
            <a:srgbClr val="D9892B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115568" y="53766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Resumen, clasificación y próxima acción </a:t>
            </a:r>
            <a:pPr algn="l" indent="0" marL="0">
              <a:buNone/>
            </a:pPr>
            <a:r>
              <a:rPr lang="en-US" sz="155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automáticos</a:t>
            </a:r>
            <a:pPr algn="l" indent="0" marL="0">
              <a:buNone/>
            </a:pPr>
            <a:r>
              <a:rPr lang="en-US" sz="15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Tu equipo sólo decide.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229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ARIA · Propuesta comercial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362895" y="6455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determined-fermi/mnt/outputs/assets/hair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20" kern="0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PUESTA EN MARCHA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22960" y="749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Listo en </a:t>
            </a:r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minutos</a:t>
            </a:r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 en meses</a:t>
            </a:r>
            <a:endParaRPr lang="en-US" sz="3000" dirty="0"/>
          </a:p>
        </p:txBody>
      </p:sp>
      <p:pic>
        <p:nvPicPr>
          <p:cNvPr id="5" name="Image 1" descr="/sessions/sweet-determined-fermi/mnt/Connectview/docs/comercial/img/alta-en-minu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8" y="1920240"/>
            <a:ext cx="10789920" cy="317350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2960" y="5504688"/>
            <a:ext cx="146304" cy="146304"/>
          </a:xfrm>
          <a:prstGeom prst="ellipse">
            <a:avLst/>
          </a:prstGeom>
          <a:solidFill>
            <a:srgbClr val="D9892B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115568" y="53766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Conectás tu nube con un asistente de 1 clic y escalás de </a:t>
            </a:r>
            <a:pPr algn="l" indent="0" marL="0">
              <a:buNone/>
            </a:pPr>
            <a:r>
              <a:rPr lang="en-US" sz="155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a 500 agentes</a:t>
            </a:r>
            <a:pPr algn="l" indent="0" marL="0">
              <a:buNone/>
            </a:pPr>
            <a:r>
              <a:rPr lang="en-US" sz="15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 tocar servidores.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229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ARIA · Propuesta comercial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362895" y="6455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determined-fermi/mnt/outputs/assets/hair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20" kern="0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 NUBE, TU CONTROL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22960" y="749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Tus datos </a:t>
            </a:r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nunca salen</a:t>
            </a:r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tu cuenta</a:t>
            </a:r>
            <a:endParaRPr lang="en-US" sz="3000" dirty="0"/>
          </a:p>
        </p:txBody>
      </p:sp>
      <p:pic>
        <p:nvPicPr>
          <p:cNvPr id="5" name="Image 1" descr="/sessions/sweet-determined-fermi/mnt/Connectview/docs/comercial/img/tu-n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8" y="1874520"/>
            <a:ext cx="9692640" cy="363428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2960" y="5641848"/>
            <a:ext cx="146304" cy="146304"/>
          </a:xfrm>
          <a:prstGeom prst="ellipse">
            <a:avLst/>
          </a:prstGeom>
          <a:solidFill>
            <a:srgbClr val="D9892B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115568" y="55138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Soberanía total y sin lock-in: </a:t>
            </a:r>
            <a:pPr algn="l" indent="0" marL="0">
              <a:buNone/>
            </a:pPr>
            <a:r>
              <a:rPr lang="en-US" sz="155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revocás el acceso cuando quieras</a:t>
            </a:r>
            <a:pPr algn="l" indent="0" marL="0">
              <a:buNone/>
            </a:pPr>
            <a:r>
              <a:rPr lang="en-US" sz="15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con un clic.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2296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ARIA · Propuesta comercial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362895" y="6455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determined-fermi/mnt/outputs/assets/hair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20" kern="0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PRECIO SIMPLE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22960" y="749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sola </a:t>
            </a:r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tarifa por agente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Reemplazás tres licencias por una sola plataforma.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1866748" y="2057400"/>
            <a:ext cx="384048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240">
            <a:solidFill>
              <a:srgbClr val="E4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E1525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250796" y="231343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50796" y="2624328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$80</a:t>
            </a:r>
            <a:pPr indent="0" marL="0">
              <a:buNone/>
            </a:pPr>
            <a:r>
              <a:rPr lang="en-US" sz="4400" b="1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–200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2250796" y="347472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agente / mes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250796" y="3867912"/>
            <a:ext cx="3072384" cy="0"/>
          </a:xfrm>
          <a:prstGeom prst="line">
            <a:avLst/>
          </a:prstGeom>
          <a:noFill/>
          <a:ln w="12700">
            <a:solidFill>
              <a:srgbClr val="E4E5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250796" y="3995928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 + omnicanal + Salesforce
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licencias que no se hablan entre sí.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84468" y="2057400"/>
            <a:ext cx="3840480" cy="2743200"/>
          </a:xfrm>
          <a:prstGeom prst="roundRect">
            <a:avLst>
              <a:gd name="adj" fmla="val 4667"/>
            </a:avLst>
          </a:prstGeom>
          <a:solidFill>
            <a:srgbClr val="7A1E52"/>
          </a:solidFill>
          <a:ln/>
          <a:effectLst>
            <a:outerShdw sx="100000" sy="100000" kx="0" ky="0" algn="bl" rotWithShape="0" blurRad="114300" dist="50800" dir="5400000">
              <a:srgbClr val="5A2247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868516" y="231343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C9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ARIA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68516" y="2624328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$29</a:t>
            </a:r>
            <a:pPr indent="0" marL="0">
              <a:buNone/>
            </a:pPr>
            <a:r>
              <a:rPr lang="en-US" sz="4400" b="1" dirty="0">
                <a:solidFill>
                  <a:srgbClr val="E7C9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–39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6868516" y="347472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C9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agente / mes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868516" y="3867912"/>
            <a:ext cx="3072384" cy="0"/>
          </a:xfrm>
          <a:prstGeom prst="line">
            <a:avLst/>
          </a:prstGeom>
          <a:noFill/>
          <a:ln w="12700">
            <a:solidFill>
              <a:srgbClr val="9A4E7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868516" y="3995928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sola plataforma con IA
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D7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tu consumo de AWS a precio de costo.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22960" y="4965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sola factura de plataforma </a:t>
            </a:r>
            <a:pPr algn="ctr" indent="0" marL="0">
              <a:buNone/>
            </a:pPr>
            <a:r>
              <a:rPr lang="en-US" sz="1700" b="1" dirty="0">
                <a:solidFill>
                  <a:srgbClr val="0E15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vez de tres.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1615288" y="545896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5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706728" y="54589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Piloto · 5 agentes   </a:t>
            </a:r>
            <a:pPr algn="ctr" indent="0" marL="0">
              <a:buNone/>
            </a:pPr>
            <a:r>
              <a:rPr lang="en-US" sz="1500" b="1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$39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724248" y="545896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5EE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15688" y="54589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Pyme · 25 agentes   </a:t>
            </a:r>
            <a:pPr algn="ctr" indent="0" marL="0">
              <a:buNone/>
            </a:pPr>
            <a:r>
              <a:rPr lang="en-US" sz="1500" b="1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$35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833208" y="545896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5EE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924648" y="54589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· 100   </a:t>
            </a:r>
            <a:pPr algn="ctr" indent="0" marL="0">
              <a:buNone/>
            </a:pPr>
            <a:r>
              <a:rPr lang="en-US" sz="1500" b="1" dirty="0">
                <a:solidFill>
                  <a:srgbClr val="7A1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$29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2960" y="645566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1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Comparación de referencia; el consumo de AWS varía según el uso.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determined-fermi/mnt/outputs/assets/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sessions/sweet-determined-fermi/mnt/outputs/assets/hair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" y="12344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8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UNA FRASE</a:t>
            </a:r>
            <a:endParaRPr lang="en-US" sz="1250" dirty="0"/>
          </a:p>
        </p:txBody>
      </p:sp>
      <p:sp>
        <p:nvSpPr>
          <p:cNvPr id="5" name="Text 1"/>
          <p:cNvSpPr/>
          <p:nvPr/>
        </p:nvSpPr>
        <p:spPr>
          <a:xfrm>
            <a:off x="1097280" y="178308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contact center omnicanal con IA que corre sobre </a:t>
            </a:r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BC55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 propia nube.</a:t>
            </a:r>
            <a:endParaRPr lang="en-US" sz="3300" dirty="0"/>
          </a:p>
        </p:txBody>
      </p:sp>
      <p:sp>
        <p:nvSpPr>
          <p:cNvPr id="6" name="Text 2"/>
          <p:cNvSpPr/>
          <p:nvPr/>
        </p:nvSpPr>
        <p:spPr>
          <a:xfrm>
            <a:off x="1097280" y="37033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9C2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Unificá lo que hoy pagás en tres herramientas, recuperá el control de tus datos y escalá sin servidores.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1097280" y="4800600"/>
            <a:ext cx="3520440" cy="658368"/>
          </a:xfrm>
          <a:prstGeom prst="roundRect">
            <a:avLst>
              <a:gd name="adj" fmla="val 50000"/>
            </a:avLst>
          </a:prstGeom>
          <a:solidFill>
            <a:srgbClr val="D9892B"/>
          </a:solidFill>
          <a:ln/>
          <a:effectLst>
            <a:outerShdw sx="100000" sy="100000" kx="0" ky="0" algn="bl" rotWithShape="0" blurRad="114300" dist="50800" dir="5400000">
              <a:srgbClr val="5A2247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1097280" y="480060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0F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Agendemos una demo  →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9728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ARIA </a:t>
            </a:r>
            <a:pPr algn="l" indent="0" marL="0">
              <a:buNone/>
            </a:pPr>
            <a:r>
              <a:rPr lang="en-US" sz="1300" dirty="0">
                <a:solidFill>
                  <a:srgbClr val="9A9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by Novasys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 — Propuesta comercial</dc:title>
  <dc:subject>PptxGenJS Presentation</dc:subject>
  <dc:creator>ARIA by Novasys</dc:creator>
  <cp:lastModifiedBy>ARIA by Novasys</cp:lastModifiedBy>
  <cp:revision>1</cp:revision>
  <dcterms:created xsi:type="dcterms:W3CDTF">2026-06-04T17:10:33Z</dcterms:created>
  <dcterms:modified xsi:type="dcterms:W3CDTF">2026-06-04T17:10:33Z</dcterms:modified>
</cp:coreProperties>
</file>